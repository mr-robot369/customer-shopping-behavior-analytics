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2.svg" ContentType="image/svg+xml"/>
  <Override PartName="/ppt/media/image14.svg" ContentType="image/svg+xml"/>
  <Override PartName="/ppt/media/image21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5" r:id="rId14"/>
  </p:sldIdLst>
  <p:sldSz cx="9144000" cy="5143500"/>
  <p:notesSz cx="5143500" cy="9144000"/>
  <p:embeddedFontLst>
    <p:embeddedFont>
      <p:font typeface="Libre Baskerville" panose="02000000000000000000" pitchFamily="34" charset="0"/>
      <p:regular r:id="rId18"/>
    </p:embeddedFont>
    <p:embeddedFont>
      <p:font typeface="Libre Baskerville" panose="02000000000000000000" pitchFamily="34" charset="-122"/>
      <p:regular r:id="rId19"/>
    </p:embeddedFont>
    <p:embeddedFont>
      <p:font typeface="Libre Baskerville" panose="02000000000000000000" pitchFamily="34" charset="-120"/>
      <p:regular r:id="rId20"/>
    </p:embeddedFont>
    <p:embeddedFont>
      <p:font typeface="DM Sans" pitchFamily="34" charset="0"/>
      <p:regular r:id="rId21"/>
    </p:embeddedFont>
    <p:embeddedFont>
      <p:font typeface="DM Sans" pitchFamily="34" charset="-122"/>
      <p:regular r:id="rId22"/>
    </p:embeddedFont>
    <p:embeddedFont>
      <p:font typeface="DM Sans" pitchFamily="34" charset="-120"/>
      <p:regular r:id="rId23"/>
    </p:embeddedFont>
    <p:embeddedFont>
      <p:font typeface="DM Sans Bold" pitchFamily="34" charset="0"/>
      <p:bold r:id="rId24"/>
    </p:embeddedFont>
    <p:embeddedFont>
      <p:font typeface="DM Sans Bold" pitchFamily="34" charset="-122"/>
      <p:bold r:id="rId25"/>
    </p:embeddedFont>
    <p:embeddedFont>
      <p:font typeface="DM Sans Bold" pitchFamily="34" charset="-120"/>
      <p:bold r:id="rId26"/>
    </p:embeddedFont>
    <p:embeddedFont>
      <p:font typeface="Consolas" panose="020B0609020204030204" pitchFamily="34" charset="0"/>
      <p:regular r:id="rId27"/>
      <p:bold r:id="rId28"/>
      <p:italic r:id="rId29"/>
      <p:boldItalic r:id="rId30"/>
    </p:embeddedFont>
    <p:embeddedFont>
      <p:font typeface="Consolas" panose="020B0609020204030204" pitchFamily="34" charset="-122"/>
      <p:regular r:id="rId31"/>
      <p:bold r:id="rId32"/>
      <p:italic r:id="rId33"/>
      <p:boldItalic r:id="rId34"/>
    </p:embeddedFont>
    <p:embeddedFont>
      <p:font typeface="Consolas" panose="020B0609020204030204" pitchFamily="34" charset="-120"/>
      <p:regular r:id="rId35"/>
      <p:bold r:id="rId36"/>
      <p:italic r:id="rId37"/>
      <p:boldItalic r:id="rId38"/>
    </p:embeddedFont>
    <p:embeddedFont>
      <p:font typeface="Calibri" panose="020F0502020204030204" charset="0"/>
      <p:regular r:id="rId39"/>
      <p:bold r:id="rId40"/>
      <p:italic r:id="rId41"/>
      <p:boldItalic r:id="rId4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font" Target="fonts/font25.fntdata"/><Relationship Id="rId41" Type="http://schemas.openxmlformats.org/officeDocument/2006/relationships/font" Target="fonts/font24.fntdata"/><Relationship Id="rId40" Type="http://schemas.openxmlformats.org/officeDocument/2006/relationships/font" Target="fonts/font23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22.fntdata"/><Relationship Id="rId38" Type="http://schemas.openxmlformats.org/officeDocument/2006/relationships/font" Target="fonts/font21.fntdata"/><Relationship Id="rId37" Type="http://schemas.openxmlformats.org/officeDocument/2006/relationships/font" Target="fonts/font20.fntdata"/><Relationship Id="rId36" Type="http://schemas.openxmlformats.org/officeDocument/2006/relationships/font" Target="fonts/font19.fntdata"/><Relationship Id="rId35" Type="http://schemas.openxmlformats.org/officeDocument/2006/relationships/font" Target="fonts/font18.fntdata"/><Relationship Id="rId34" Type="http://schemas.openxmlformats.org/officeDocument/2006/relationships/font" Target="fonts/font17.fntdata"/><Relationship Id="rId33" Type="http://schemas.openxmlformats.org/officeDocument/2006/relationships/font" Target="fonts/font16.fntdata"/><Relationship Id="rId32" Type="http://schemas.openxmlformats.org/officeDocument/2006/relationships/font" Target="fonts/font15.fntdata"/><Relationship Id="rId31" Type="http://schemas.openxmlformats.org/officeDocument/2006/relationships/font" Target="fonts/font14.fntdata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svg"/><Relationship Id="rId7" Type="http://schemas.openxmlformats.org/officeDocument/2006/relationships/image" Target="../media/image30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5.png"/><Relationship Id="rId10" Type="http://schemas.openxmlformats.org/officeDocument/2006/relationships/image" Target="../media/image33.svg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spending patterns, segments, and preferences from </a:t>
            </a:r>
            <a:r>
              <a:rPr lang="en-US" sz="110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3,900 transactions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guide strategic decisions.</a:t>
            </a:r>
            <a:endParaRPr lang="en-US" sz="11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240" y="4846320"/>
            <a:ext cx="1889760" cy="2971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0855" y="320675"/>
            <a:ext cx="5563235" cy="577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 at a Glance</a:t>
            </a:r>
            <a:endParaRPr lang="en-US" sz="3200" dirty="0">
              <a:solidFill>
                <a:srgbClr val="5C4E3D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43635" y="1139190"/>
            <a:ext cx="2331720" cy="9137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7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3,900</a:t>
            </a:r>
            <a:endParaRPr lang="en-US" sz="2700" dirty="0">
              <a:solidFill>
                <a:srgbClr val="454240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  <a:sym typeface="+mn-ea"/>
              </a:rPr>
              <a:t>Transactions</a:t>
            </a:r>
            <a:endParaRPr lang="en-US" sz="2700" dirty="0">
              <a:solidFill>
                <a:srgbClr val="454240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  <a:sym typeface="+mn-ea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  <a:sym typeface="+mn-ea"/>
              </a:rPr>
              <a:t>Across all product categories</a:t>
            </a:r>
            <a:endParaRPr lang="en-US" sz="1200" dirty="0"/>
          </a:p>
          <a:p>
            <a:pPr marL="0" indent="0" algn="ctr">
              <a:lnSpc>
                <a:spcPct val="83000"/>
              </a:lnSpc>
              <a:buNone/>
            </a:pP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25119" y="1351657"/>
            <a:ext cx="4722763" cy="1626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925119" y="1560165"/>
            <a:ext cx="4722763" cy="144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endParaRPr lang="en-US" sz="800" dirty="0"/>
          </a:p>
        </p:txBody>
      </p:sp>
      <p:sp>
        <p:nvSpPr>
          <p:cNvPr id="16" name="Text 1"/>
          <p:cNvSpPr/>
          <p:nvPr/>
        </p:nvSpPr>
        <p:spPr>
          <a:xfrm>
            <a:off x="4883785" y="1139190"/>
            <a:ext cx="3307715" cy="9137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IN" altLang="en-US" sz="27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18</a:t>
            </a:r>
            <a:endParaRPr lang="en-US" sz="2700" dirty="0">
              <a:solidFill>
                <a:srgbClr val="454240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IN" altLang="en-US" sz="16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  <a:sym typeface="+mn-ea"/>
              </a:rPr>
              <a:t>Features</a:t>
            </a:r>
            <a:endParaRPr lang="en-US" sz="2700" dirty="0">
              <a:solidFill>
                <a:srgbClr val="454240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  <a:sym typeface="+mn-ea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IN" alt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  <a:sym typeface="+mn-ea"/>
              </a:rPr>
              <a:t>Demographics, purchases &amp; behavior</a:t>
            </a:r>
            <a:endParaRPr lang="en-US" sz="1200" dirty="0"/>
          </a:p>
          <a:p>
            <a:pPr marL="0" indent="0" algn="ctr">
              <a:lnSpc>
                <a:spcPct val="83000"/>
              </a:lnSpc>
              <a:buNone/>
            </a:pPr>
            <a:endParaRPr lang="en-US" sz="1200" dirty="0"/>
          </a:p>
        </p:txBody>
      </p:sp>
      <p:sp>
        <p:nvSpPr>
          <p:cNvPr id="17" name="Text 1"/>
          <p:cNvSpPr/>
          <p:nvPr/>
        </p:nvSpPr>
        <p:spPr>
          <a:xfrm>
            <a:off x="1270635" y="3016885"/>
            <a:ext cx="2331720" cy="9137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7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</a:t>
            </a:r>
            <a:r>
              <a:rPr lang="en-IN" altLang="en-US" sz="27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7</a:t>
            </a:r>
            <a:endParaRPr lang="en-US" sz="2700" dirty="0">
              <a:solidFill>
                <a:srgbClr val="454240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IN" altLang="en-US" sz="16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  <a:sym typeface="+mn-ea"/>
              </a:rPr>
              <a:t>Missing Values</a:t>
            </a:r>
            <a:endParaRPr lang="en-US" sz="2700" dirty="0">
              <a:solidFill>
                <a:srgbClr val="454240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  <a:sym typeface="+mn-ea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  <a:sym typeface="+mn-ea"/>
              </a:rPr>
              <a:t>Review Rating column only</a:t>
            </a:r>
            <a:endParaRPr lang="en-US" altLang="en-US" sz="1200" dirty="0">
              <a:solidFill>
                <a:srgbClr val="454240"/>
              </a:solidFill>
              <a:latin typeface="DM Sans" pitchFamily="34" charset="0"/>
              <a:ea typeface="DM Sans" pitchFamily="34" charset="-122"/>
              <a:cs typeface="DM Sans" pitchFamily="34" charset="-120"/>
              <a:sym typeface="+mn-ea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altLang="en-US" sz="1200" dirty="0">
              <a:solidFill>
                <a:srgbClr val="454240"/>
              </a:solidFill>
              <a:latin typeface="DM Sans" pitchFamily="34" charset="0"/>
              <a:ea typeface="DM Sans" pitchFamily="34" charset="-122"/>
              <a:cs typeface="DM Sans" pitchFamily="34" charset="-120"/>
              <a:sym typeface="+mn-ea"/>
            </a:endParaRPr>
          </a:p>
          <a:p>
            <a:pPr marL="0" indent="0" algn="ctr">
              <a:lnSpc>
                <a:spcPct val="83000"/>
              </a:lnSpc>
              <a:buNone/>
            </a:pPr>
            <a:endParaRPr lang="en-US" sz="1200" dirty="0"/>
          </a:p>
        </p:txBody>
      </p:sp>
      <p:sp>
        <p:nvSpPr>
          <p:cNvPr id="19" name="Text 1"/>
          <p:cNvSpPr/>
          <p:nvPr/>
        </p:nvSpPr>
        <p:spPr>
          <a:xfrm>
            <a:off x="5672455" y="2837180"/>
            <a:ext cx="1986280" cy="10934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IN" altLang="en-US" sz="28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Gender</a:t>
            </a:r>
            <a:endParaRPr lang="en-IN" altLang="en-US" sz="2800" dirty="0">
              <a:solidFill>
                <a:srgbClr val="454240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IN" altLang="en-US" sz="16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Male : 2,652</a:t>
            </a:r>
            <a:endParaRPr lang="en-IN" altLang="en-US" sz="1600" dirty="0">
              <a:solidFill>
                <a:srgbClr val="454240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IN" altLang="en-US" sz="16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Females : 1,248</a:t>
            </a:r>
            <a:endParaRPr lang="en-IN" altLang="en-US" sz="1600" dirty="0">
              <a:solidFill>
                <a:srgbClr val="454240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  <a:sym typeface="+mn-ea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altLang="en-US" sz="1200" dirty="0">
              <a:solidFill>
                <a:srgbClr val="454240"/>
              </a:solidFill>
              <a:latin typeface="DM Sans" pitchFamily="34" charset="0"/>
              <a:ea typeface="DM Sans" pitchFamily="34" charset="-122"/>
              <a:cs typeface="DM Sans" pitchFamily="34" charset="-120"/>
              <a:sym typeface="+mn-ea"/>
            </a:endParaRPr>
          </a:p>
          <a:p>
            <a:pPr marL="0" indent="0" algn="ctr">
              <a:lnSpc>
                <a:spcPct val="83000"/>
              </a:lnSpc>
              <a:buNone/>
            </a:pPr>
            <a:endParaRPr lang="en-US" sz="12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8050" y="4824730"/>
            <a:ext cx="188595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611"/>
            <a:ext cx="8151763" cy="3945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Python: Data Preparation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82613"/>
            <a:ext cx="5190753" cy="294136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7036" y="1127187"/>
            <a:ext cx="189384" cy="1893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9953" y="1123280"/>
            <a:ext cx="2242617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Load &amp; Explore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409953" y="1432992"/>
            <a:ext cx="2242617" cy="1957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pandas: </a:t>
            </a:r>
            <a:r>
              <a:rPr lang="en-US" sz="950" dirty="0">
                <a:solidFill>
                  <a:srgbClr val="454240"/>
                </a:solidFill>
                <a:highlight>
                  <a:srgbClr val="F2F0ED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df.info()</a:t>
            </a: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950" dirty="0">
                <a:solidFill>
                  <a:srgbClr val="454240"/>
                </a:solidFill>
                <a:highlight>
                  <a:srgbClr val="F2F0ED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df.describe()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7036" y="1857487"/>
            <a:ext cx="189384" cy="1893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9953" y="1853580"/>
            <a:ext cx="2242617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Clean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409953" y="2163291"/>
            <a:ext cx="2242617" cy="3818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via median per category; snake_case columns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7036" y="2773970"/>
            <a:ext cx="189384" cy="1893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09953" y="2770063"/>
            <a:ext cx="2242617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Engineer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409953" y="3079775"/>
            <a:ext cx="2242617" cy="5871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</a:t>
            </a:r>
            <a:r>
              <a:rPr lang="en-US" sz="950" dirty="0">
                <a:solidFill>
                  <a:srgbClr val="454240"/>
                </a:solidFill>
                <a:highlight>
                  <a:srgbClr val="F2F0ED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age_group</a:t>
            </a: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&amp; </a:t>
            </a:r>
            <a:r>
              <a:rPr lang="en-US" sz="950" dirty="0">
                <a:solidFill>
                  <a:srgbClr val="454240"/>
                </a:solidFill>
                <a:highlight>
                  <a:srgbClr val="F2F0ED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purchase_frequency_days</a:t>
            </a: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; dropped redundant </a:t>
            </a:r>
            <a:r>
              <a:rPr lang="en-US" sz="950" dirty="0">
                <a:solidFill>
                  <a:srgbClr val="454240"/>
                </a:solidFill>
                <a:highlight>
                  <a:srgbClr val="F2F0ED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promo_code_used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7036" y="3895688"/>
            <a:ext cx="189384" cy="1893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409953" y="3891781"/>
            <a:ext cx="2242617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Integrate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409953" y="4201492"/>
            <a:ext cx="2242617" cy="3818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cleaned DataFrame into MySQL for SQL analysis</a:t>
            </a:r>
            <a:endParaRPr lang="en-US" sz="95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8050" y="4824730"/>
            <a:ext cx="188595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6824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SQL Insights: Revenue &amp; Ratings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81882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64171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Top 5 Products by Avg Rating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749701" y="1845097"/>
            <a:ext cx="3902943" cy="2472035"/>
          </a:xfrm>
          <a:prstGeom prst="roundRect">
            <a:avLst>
              <a:gd name="adj" fmla="val 24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49701" y="2258690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4749701" y="2669902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4749701" y="3081114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4749701" y="3492326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4749701" y="3903538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1" name="Text 8"/>
          <p:cNvSpPr/>
          <p:nvPr/>
        </p:nvSpPr>
        <p:spPr>
          <a:xfrm>
            <a:off x="4896296" y="1939677"/>
            <a:ext cx="212035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Product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42968" y="1939677"/>
            <a:ext cx="212035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96296" y="2350889"/>
            <a:ext cx="212035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42968" y="2350889"/>
            <a:ext cx="212035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3.86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96296" y="2762101"/>
            <a:ext cx="212035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42968" y="2762101"/>
            <a:ext cx="212035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96296" y="3173313"/>
            <a:ext cx="212035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42968" y="3173313"/>
            <a:ext cx="212035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96296" y="3584525"/>
            <a:ext cx="212035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42968" y="3584525"/>
            <a:ext cx="212035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3.80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96296" y="3995738"/>
            <a:ext cx="212035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Handbag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842968" y="3995738"/>
            <a:ext cx="212035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3.78</a:t>
            </a:r>
            <a:endParaRPr lang="en-US" sz="11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050" y="4824730"/>
            <a:ext cx="188595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095"/>
            <a:ext cx="8151763" cy="422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SQL Insights: Subscribers &amp; Shipping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86458"/>
            <a:ext cx="3911054" cy="281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1590" y="1170310"/>
            <a:ext cx="3911054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Key Findings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1590" y="1526307"/>
            <a:ext cx="3911054" cy="8591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71901" y="1680418"/>
            <a:ext cx="3526631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Express vs Standard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971901" y="2020267"/>
            <a:ext cx="3526631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avg: </a:t>
            </a:r>
            <a:r>
              <a:rPr lang="en-US" sz="10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$60.48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Standard: </a:t>
            </a:r>
            <a:r>
              <a:rPr lang="en-US" sz="10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$58.46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1590" y="2514228"/>
            <a:ext cx="3911054" cy="85918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71901" y="2668339"/>
            <a:ext cx="3526631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Discount-Heavy Products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4971901" y="3008188"/>
            <a:ext cx="3526631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Sneakers &amp; Hat: </a:t>
            </a:r>
            <a:r>
              <a:rPr lang="en-US" sz="10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50%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discounted purchases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1590" y="3502149"/>
            <a:ext cx="3911054" cy="107029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71901" y="3656261"/>
            <a:ext cx="3526631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Repeat Buyers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4971901" y="3996110"/>
            <a:ext cx="3526631" cy="4222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958 subscribers vs 2,518 non-subscribers with &gt;5 purchases</a:t>
            </a:r>
            <a:endParaRPr lang="en-US" sz="105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8050" y="4824730"/>
            <a:ext cx="188595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22474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1468" y="1948979"/>
            <a:ext cx="1345034" cy="504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34307" y="2131368"/>
            <a:ext cx="199355" cy="2491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3348261" y="2090737"/>
            <a:ext cx="515786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Loyal — 3,116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3241923" y="2462138"/>
            <a:ext cx="5370537" cy="9525"/>
          </a:xfrm>
          <a:prstGeom prst="roundRect">
            <a:avLst>
              <a:gd name="adj" fmla="val 625116"/>
            </a:avLst>
          </a:prstGeom>
          <a:solidFill>
            <a:srgbClr val="DDD3BA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988" y="2489374"/>
            <a:ext cx="2690068" cy="5049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434307" y="2617291"/>
            <a:ext cx="199355" cy="2491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2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4020815" y="2631132"/>
            <a:ext cx="448530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Returning — 701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3914477" y="3002533"/>
            <a:ext cx="4697983" cy="9525"/>
          </a:xfrm>
          <a:prstGeom prst="roundRect">
            <a:avLst>
              <a:gd name="adj" fmla="val 625116"/>
            </a:avLst>
          </a:prstGeom>
          <a:solidFill>
            <a:srgbClr val="DDD3BA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34" y="3029769"/>
            <a:ext cx="4035103" cy="5049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34233" y="3157686"/>
            <a:ext cx="199355" cy="2491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4693295" y="3171527"/>
            <a:ext cx="381282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New — 83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96119" y="3694212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 </a:t>
            </a:r>
            <a:r>
              <a:rPr lang="en-US" sz="110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80% of customers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are in the Loyal segment — a strong retention base to leverage.</a:t>
            </a:r>
            <a:endParaRPr lang="en-US" sz="11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8050" y="4824730"/>
            <a:ext cx="188595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Top Products by Category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Category Leaders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749701" y="1858045"/>
            <a:ext cx="1880592" cy="1109886"/>
          </a:xfrm>
          <a:prstGeom prst="roundRect">
            <a:avLst>
              <a:gd name="adj" fmla="val 536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96222" y="2004566"/>
            <a:ext cx="158755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Clothing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896222" y="2367781"/>
            <a:ext cx="1587550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Blouse, Pants, Shirt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772052" y="1858045"/>
            <a:ext cx="1880592" cy="1109886"/>
          </a:xfrm>
          <a:prstGeom prst="roundRect">
            <a:avLst>
              <a:gd name="adj" fmla="val 536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18573" y="2004566"/>
            <a:ext cx="158755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Accessories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18573" y="2367781"/>
            <a:ext cx="1587550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Jewelry, Sunglasses, Belt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49701" y="3109689"/>
            <a:ext cx="1880592" cy="1109886"/>
          </a:xfrm>
          <a:prstGeom prst="roundRect">
            <a:avLst>
              <a:gd name="adj" fmla="val 536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6222" y="3256211"/>
            <a:ext cx="158755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Footwear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896222" y="3619426"/>
            <a:ext cx="1587550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Sandals, Shoes, Sneakers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72052" y="3109689"/>
            <a:ext cx="1880592" cy="1109886"/>
          </a:xfrm>
          <a:prstGeom prst="roundRect">
            <a:avLst>
              <a:gd name="adj" fmla="val 536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18573" y="3256211"/>
            <a:ext cx="158755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Outerwear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918573" y="3619426"/>
            <a:ext cx="1587550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Jacket, Coat</a:t>
            </a:r>
            <a:endParaRPr lang="en-US" sz="11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050" y="4824730"/>
            <a:ext cx="188595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422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Revenue by Age Group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50218"/>
            <a:ext cx="3911054" cy="281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1590" y="1134070"/>
            <a:ext cx="3911054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Age Group Insights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741590" y="1473919"/>
            <a:ext cx="3911054" cy="6333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Adults lead revenue at </a:t>
            </a:r>
            <a:r>
              <a:rPr lang="en-US" sz="105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$62K</a:t>
            </a: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Revenue is relatively balanced across all four age groups — each contributes between $55K–$62K.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4236095"/>
            <a:ext cx="1936254" cy="5375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9280" y="4255145"/>
            <a:ext cx="1744042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Young Adult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69280" y="4543499"/>
            <a:ext cx="1744042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$62,143 · 1,028 sales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5230" y="4236095"/>
            <a:ext cx="1936254" cy="5375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47442" y="4255145"/>
            <a:ext cx="1744042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Middle-aged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2747442" y="4543499"/>
            <a:ext cx="1744042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$59,197 · 986 sales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392" y="4236095"/>
            <a:ext cx="1936254" cy="53756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25603" y="4255145"/>
            <a:ext cx="1744042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Adult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825603" y="4543499"/>
            <a:ext cx="1744042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$55,978 · 942 sales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1553" y="4236095"/>
            <a:ext cx="1936328" cy="53756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03765" y="4255145"/>
            <a:ext cx="1744117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Senior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6903765" y="4543499"/>
            <a:ext cx="1744117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$55,763 · 944 sales</a:t>
            </a:r>
            <a:endParaRPr lang="en-US" sz="105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8050" y="4824730"/>
            <a:ext cx="188595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2122"/>
            <a:ext cx="4722763" cy="3945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Power BI Dashboard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3925119" y="995288"/>
            <a:ext cx="4722763" cy="717575"/>
          </a:xfrm>
          <a:prstGeom prst="roundRect">
            <a:avLst>
              <a:gd name="adj" fmla="val 739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56087" y="1126257"/>
            <a:ext cx="4460825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3.9K Customers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56087" y="1390948"/>
            <a:ext cx="4460825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transaction records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925119" y="1825303"/>
            <a:ext cx="4722763" cy="717575"/>
          </a:xfrm>
          <a:prstGeom prst="roundRect">
            <a:avLst>
              <a:gd name="adj" fmla="val 739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56087" y="1956271"/>
            <a:ext cx="4460825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$59.76 Avg Spend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56087" y="2220962"/>
            <a:ext cx="4460825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purchase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25119" y="2655317"/>
            <a:ext cx="4722763" cy="717575"/>
          </a:xfrm>
          <a:prstGeom prst="roundRect">
            <a:avLst>
              <a:gd name="adj" fmla="val 739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56087" y="2786286"/>
            <a:ext cx="4460825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3.75 Avg Rating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056087" y="3050977"/>
            <a:ext cx="4460825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review score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25119" y="3485331"/>
            <a:ext cx="4722763" cy="717575"/>
          </a:xfrm>
          <a:prstGeom prst="roundRect">
            <a:avLst>
              <a:gd name="adj" fmla="val 739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56087" y="3616300"/>
            <a:ext cx="4460825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27% Subscribers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56087" y="3880991"/>
            <a:ext cx="4460825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73% non-subscribers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925119" y="4329410"/>
            <a:ext cx="4722763" cy="3818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Filters: Subscription Status · Gender · Category · Shipping Type. Visuals include Revenue &amp; Sales by Category and Age Group.</a:t>
            </a:r>
            <a:endParaRPr lang="en-US" sz="95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050" y="4824730"/>
            <a:ext cx="188595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7-13 1227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9144000" cy="51441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4488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70993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919660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2226171"/>
            <a:ext cx="213843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870993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3130" y="1919660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33130" y="2226171"/>
            <a:ext cx="213843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→ Loyal segment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870993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9445" y="1919660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09445" y="2226171"/>
            <a:ext cx="213843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lift with margin control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963317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6816" y="3011984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56816" y="3318495"/>
            <a:ext cx="2138437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2963317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33130" y="3011984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733130" y="3318495"/>
            <a:ext cx="213843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&amp; best-selling products in campaigns</a:t>
            </a:r>
            <a:endParaRPr lang="en-US" sz="11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58050" y="4824730"/>
            <a:ext cx="1885950" cy="295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2176</Words>
  <Application>WPS Presentation</Application>
  <PresentationFormat>On-screen Show (16:9)</PresentationFormat>
  <Paragraphs>190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Arial</vt:lpstr>
      <vt:lpstr>SimSun</vt:lpstr>
      <vt:lpstr>Wingdings</vt:lpstr>
      <vt:lpstr>Libre Baskerville</vt:lpstr>
      <vt:lpstr>Libre Baskerville</vt:lpstr>
      <vt:lpstr>Libre Baskerville</vt:lpstr>
      <vt:lpstr>DM Sans</vt:lpstr>
      <vt:lpstr>DM Sans</vt:lpstr>
      <vt:lpstr>DM Sans</vt:lpstr>
      <vt:lpstr>DM Sans Bold</vt:lpstr>
      <vt:lpstr>DM Sans Bold</vt:lpstr>
      <vt:lpstr>DM Sans Bold</vt:lpstr>
      <vt:lpstr>Consolas</vt:lpstr>
      <vt:lpstr>Consolas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Anubhav Shukla matsc21</cp:lastModifiedBy>
  <cp:revision>2</cp:revision>
  <dcterms:created xsi:type="dcterms:W3CDTF">2026-07-13T07:26:00Z</dcterms:created>
  <dcterms:modified xsi:type="dcterms:W3CDTF">2026-07-13T07:42:25Z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23639A8053C74E54A44543AE4B2FE4AE_12</vt:lpwstr>
  </property>
</Properties>
</file>